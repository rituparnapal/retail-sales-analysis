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63" r:id="rId2"/>
    <p:sldId id="258" r:id="rId3"/>
    <p:sldId id="259" r:id="rId4"/>
    <p:sldId id="260" r:id="rId5"/>
    <p:sldId id="262" r:id="rId6"/>
    <p:sldId id="264"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ubhashis Pal" userId="73477c1c4c8ffb5c" providerId="LiveId" clId="{8990DA32-C2C5-4EAD-A721-FE9545A073C4}"/>
    <pc:docChg chg="modSld">
      <pc:chgData name="Shubhashis Pal" userId="73477c1c4c8ffb5c" providerId="LiveId" clId="{8990DA32-C2C5-4EAD-A721-FE9545A073C4}" dt="2026-03-01T15:01:45.330" v="7" actId="1076"/>
      <pc:docMkLst>
        <pc:docMk/>
      </pc:docMkLst>
      <pc:sldChg chg="modSp mod">
        <pc:chgData name="Shubhashis Pal" userId="73477c1c4c8ffb5c" providerId="LiveId" clId="{8990DA32-C2C5-4EAD-A721-FE9545A073C4}" dt="2026-03-01T14:59:05.234" v="2" actId="1076"/>
        <pc:sldMkLst>
          <pc:docMk/>
          <pc:sldMk cId="3733482864" sldId="258"/>
        </pc:sldMkLst>
        <pc:picChg chg="mod">
          <ac:chgData name="Shubhashis Pal" userId="73477c1c4c8ffb5c" providerId="LiveId" clId="{8990DA32-C2C5-4EAD-A721-FE9545A073C4}" dt="2026-03-01T14:59:05.234" v="2" actId="1076"/>
          <ac:picMkLst>
            <pc:docMk/>
            <pc:sldMk cId="3733482864" sldId="258"/>
            <ac:picMk id="12" creationId="{EF182EE3-49FD-1301-3FAA-1F36152FF9B4}"/>
          </ac:picMkLst>
        </pc:picChg>
        <pc:picChg chg="mod">
          <ac:chgData name="Shubhashis Pal" userId="73477c1c4c8ffb5c" providerId="LiveId" clId="{8990DA32-C2C5-4EAD-A721-FE9545A073C4}" dt="2026-03-01T14:58:54.385" v="1" actId="1076"/>
          <ac:picMkLst>
            <pc:docMk/>
            <pc:sldMk cId="3733482864" sldId="258"/>
            <ac:picMk id="14" creationId="{3828A8F1-9980-FCE0-608C-D19C8A4258AF}"/>
          </ac:picMkLst>
        </pc:picChg>
      </pc:sldChg>
      <pc:sldChg chg="modSp mod">
        <pc:chgData name="Shubhashis Pal" userId="73477c1c4c8ffb5c" providerId="LiveId" clId="{8990DA32-C2C5-4EAD-A721-FE9545A073C4}" dt="2026-03-01T15:01:45.330" v="7" actId="1076"/>
        <pc:sldMkLst>
          <pc:docMk/>
          <pc:sldMk cId="1175009241" sldId="259"/>
        </pc:sldMkLst>
        <pc:picChg chg="mod">
          <ac:chgData name="Shubhashis Pal" userId="73477c1c4c8ffb5c" providerId="LiveId" clId="{8990DA32-C2C5-4EAD-A721-FE9545A073C4}" dt="2026-03-01T15:01:45.330" v="7" actId="1076"/>
          <ac:picMkLst>
            <pc:docMk/>
            <pc:sldMk cId="1175009241" sldId="259"/>
            <ac:picMk id="6" creationId="{6D33DEAB-9B35-D02F-D7CE-CF7A67ED405B}"/>
          </ac:picMkLst>
        </pc:picChg>
        <pc:picChg chg="mod">
          <ac:chgData name="Shubhashis Pal" userId="73477c1c4c8ffb5c" providerId="LiveId" clId="{8990DA32-C2C5-4EAD-A721-FE9545A073C4}" dt="2026-03-01T15:01:41.157" v="6" actId="1076"/>
          <ac:picMkLst>
            <pc:docMk/>
            <pc:sldMk cId="1175009241" sldId="259"/>
            <ac:picMk id="19" creationId="{8387961D-CB84-ED70-E31B-ECC9E88BF92E}"/>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72BA342B-8CC2-4886-B972-7FD752E39036}" type="datetimeFigureOut">
              <a:rPr lang="en-IN" smtClean="0"/>
              <a:t>01-03-2026</a:t>
            </a:fld>
            <a:endParaRPr lang="en-IN"/>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AF2BFC08-DF26-4456-A3EB-E838438327AF}" type="slidenum">
              <a:rPr lang="en-IN" smtClean="0"/>
              <a:t>‹#›</a:t>
            </a:fld>
            <a:endParaRPr lang="en-IN"/>
          </a:p>
        </p:txBody>
      </p:sp>
    </p:spTree>
    <p:extLst>
      <p:ext uri="{BB962C8B-B14F-4D97-AF65-F5344CB8AC3E}">
        <p14:creationId xmlns:p14="http://schemas.microsoft.com/office/powerpoint/2010/main" val="40270801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2BA342B-8CC2-4886-B972-7FD752E39036}" type="datetimeFigureOut">
              <a:rPr lang="en-IN" smtClean="0"/>
              <a:t>01-03-2026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F2BFC08-DF26-4456-A3EB-E838438327AF}" type="slidenum">
              <a:rPr lang="en-IN" smtClean="0"/>
              <a:t>‹#›</a:t>
            </a:fld>
            <a:endParaRPr lang="en-IN"/>
          </a:p>
        </p:txBody>
      </p:sp>
    </p:spTree>
    <p:extLst>
      <p:ext uri="{BB962C8B-B14F-4D97-AF65-F5344CB8AC3E}">
        <p14:creationId xmlns:p14="http://schemas.microsoft.com/office/powerpoint/2010/main" val="2534846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72BA342B-8CC2-4886-B972-7FD752E39036}" type="datetimeFigureOut">
              <a:rPr lang="en-IN" smtClean="0"/>
              <a:t>01-03-2026</a:t>
            </a:fld>
            <a:endParaRPr lang="en-IN"/>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1060"/>
            <a:ext cx="2112264" cy="228600"/>
          </a:xfrm>
        </p:spPr>
        <p:txBody>
          <a:bodyPr/>
          <a:lstStyle/>
          <a:p>
            <a:fld id="{AF2BFC08-DF26-4456-A3EB-E838438327AF}" type="slidenum">
              <a:rPr lang="en-IN" smtClean="0"/>
              <a:t>‹#›</a:t>
            </a:fld>
            <a:endParaRPr lang="en-IN"/>
          </a:p>
        </p:txBody>
      </p:sp>
    </p:spTree>
    <p:extLst>
      <p:ext uri="{BB962C8B-B14F-4D97-AF65-F5344CB8AC3E}">
        <p14:creationId xmlns:p14="http://schemas.microsoft.com/office/powerpoint/2010/main" val="212477551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2BA342B-8CC2-4886-B972-7FD752E39036}" type="datetimeFigureOut">
              <a:rPr lang="en-IN" smtClean="0"/>
              <a:t>01-03-2026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F2BFC08-DF26-4456-A3EB-E838438327AF}" type="slidenum">
              <a:rPr lang="en-IN" smtClean="0"/>
              <a:t>‹#›</a:t>
            </a:fld>
            <a:endParaRPr lang="en-IN"/>
          </a:p>
        </p:txBody>
      </p:sp>
    </p:spTree>
    <p:extLst>
      <p:ext uri="{BB962C8B-B14F-4D97-AF65-F5344CB8AC3E}">
        <p14:creationId xmlns:p14="http://schemas.microsoft.com/office/powerpoint/2010/main" val="3876803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2BA342B-8CC2-4886-B972-7FD752E39036}" type="datetimeFigureOut">
              <a:rPr lang="en-IN" smtClean="0"/>
              <a:t>01-03-2026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F2BFC08-DF26-4456-A3EB-E838438327AF}" type="slidenum">
              <a:rPr lang="en-IN" smtClean="0"/>
              <a:t>‹#›</a:t>
            </a:fld>
            <a:endParaRPr lang="en-IN"/>
          </a:p>
        </p:txBody>
      </p:sp>
    </p:spTree>
    <p:extLst>
      <p:ext uri="{BB962C8B-B14F-4D97-AF65-F5344CB8AC3E}">
        <p14:creationId xmlns:p14="http://schemas.microsoft.com/office/powerpoint/2010/main" val="19715430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2BA342B-8CC2-4886-B972-7FD752E39036}" type="datetimeFigureOut">
              <a:rPr lang="en-IN" smtClean="0"/>
              <a:t>01-03-2026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F2BFC08-DF26-4456-A3EB-E838438327AF}" type="slidenum">
              <a:rPr lang="en-IN" smtClean="0"/>
              <a:t>‹#›</a:t>
            </a:fld>
            <a:endParaRPr lang="en-IN"/>
          </a:p>
        </p:txBody>
      </p:sp>
    </p:spTree>
    <p:extLst>
      <p:ext uri="{BB962C8B-B14F-4D97-AF65-F5344CB8AC3E}">
        <p14:creationId xmlns:p14="http://schemas.microsoft.com/office/powerpoint/2010/main" val="824217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BA342B-8CC2-4886-B972-7FD752E39036}" type="datetimeFigureOut">
              <a:rPr lang="en-IN" smtClean="0"/>
              <a:t>01-03-2026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F2BFC08-DF26-4456-A3EB-E838438327AF}" type="slidenum">
              <a:rPr lang="en-IN" smtClean="0"/>
              <a:t>‹#›</a:t>
            </a:fld>
            <a:endParaRPr lang="en-IN"/>
          </a:p>
        </p:txBody>
      </p:sp>
    </p:spTree>
    <p:extLst>
      <p:ext uri="{BB962C8B-B14F-4D97-AF65-F5344CB8AC3E}">
        <p14:creationId xmlns:p14="http://schemas.microsoft.com/office/powerpoint/2010/main" val="329809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72BA342B-8CC2-4886-B972-7FD752E39036}" type="datetimeFigureOut">
              <a:rPr lang="en-IN" smtClean="0"/>
              <a:t>01-03-2026</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AF2BFC08-DF26-4456-A3EB-E838438327AF}"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92424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72BA342B-8CC2-4886-B972-7FD752E39036}" type="datetimeFigureOut">
              <a:rPr lang="en-IN" smtClean="0"/>
              <a:t>01-03-2026</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AF2BFC08-DF26-4456-A3EB-E838438327AF}"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60337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BA342B-8CC2-4886-B972-7FD752E39036}" type="datetimeFigureOut">
              <a:rPr lang="en-IN" smtClean="0"/>
              <a:t>01-03-2026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F2BFC08-DF26-4456-A3EB-E838438327AF}" type="slidenum">
              <a:rPr lang="en-IN" smtClean="0"/>
              <a:t>‹#›</a:t>
            </a:fld>
            <a:endParaRPr lang="en-IN"/>
          </a:p>
        </p:txBody>
      </p:sp>
    </p:spTree>
    <p:extLst>
      <p:ext uri="{BB962C8B-B14F-4D97-AF65-F5344CB8AC3E}">
        <p14:creationId xmlns:p14="http://schemas.microsoft.com/office/powerpoint/2010/main" val="2362528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BA342B-8CC2-4886-B972-7FD752E39036}" type="datetimeFigureOut">
              <a:rPr lang="en-IN" smtClean="0"/>
              <a:t>01-03-2026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F2BFC08-DF26-4456-A3EB-E838438327AF}" type="slidenum">
              <a:rPr lang="en-IN" smtClean="0"/>
              <a:t>‹#›</a:t>
            </a:fld>
            <a:endParaRPr lang="en-IN"/>
          </a:p>
        </p:txBody>
      </p:sp>
    </p:spTree>
    <p:extLst>
      <p:ext uri="{BB962C8B-B14F-4D97-AF65-F5344CB8AC3E}">
        <p14:creationId xmlns:p14="http://schemas.microsoft.com/office/powerpoint/2010/main" val="3536994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72BA342B-8CC2-4886-B972-7FD752E39036}" type="datetimeFigureOut">
              <a:rPr lang="en-IN" smtClean="0"/>
              <a:t>01-03-2026</a:t>
            </a:fld>
            <a:endParaRPr lang="en-IN"/>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AF2BFC08-DF26-4456-A3EB-E838438327AF}" type="slidenum">
              <a:rPr lang="en-IN" smtClean="0"/>
              <a:t>‹#›</a:t>
            </a:fld>
            <a:endParaRPr lang="en-IN"/>
          </a:p>
        </p:txBody>
      </p:sp>
    </p:spTree>
    <p:extLst>
      <p:ext uri="{BB962C8B-B14F-4D97-AF65-F5344CB8AC3E}">
        <p14:creationId xmlns:p14="http://schemas.microsoft.com/office/powerpoint/2010/main" val="116450720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F96AB-409A-D748-85E3-98264A91BF7E}"/>
              </a:ext>
            </a:extLst>
          </p:cNvPr>
          <p:cNvSpPr>
            <a:spLocks noGrp="1"/>
          </p:cNvSpPr>
          <p:nvPr>
            <p:ph type="title"/>
          </p:nvPr>
        </p:nvSpPr>
        <p:spPr>
          <a:xfrm>
            <a:off x="530942" y="525607"/>
            <a:ext cx="10515600" cy="588604"/>
          </a:xfrm>
        </p:spPr>
        <p:txBody>
          <a:bodyPr>
            <a:normAutofit fontScale="90000"/>
          </a:bodyPr>
          <a:lstStyle/>
          <a:p>
            <a:pPr algn="ctr"/>
            <a:r>
              <a:rPr lang="en-IN" b="1" dirty="0">
                <a:latin typeface="Arial Black" panose="020B0A04020102020204" pitchFamily="34" charset="0"/>
              </a:rPr>
              <a:t>Retail Sales Analysis</a:t>
            </a:r>
            <a:endParaRPr lang="en-IN" dirty="0"/>
          </a:p>
        </p:txBody>
      </p:sp>
      <p:sp>
        <p:nvSpPr>
          <p:cNvPr id="5" name="TextBox 4">
            <a:extLst>
              <a:ext uri="{FF2B5EF4-FFF2-40B4-BE49-F238E27FC236}">
                <a16:creationId xmlns:a16="http://schemas.microsoft.com/office/drawing/2014/main" id="{9C005177-4FFB-808C-68CA-B5F11F6670F4}"/>
              </a:ext>
            </a:extLst>
          </p:cNvPr>
          <p:cNvSpPr txBox="1"/>
          <p:nvPr/>
        </p:nvSpPr>
        <p:spPr>
          <a:xfrm>
            <a:off x="530942" y="1399513"/>
            <a:ext cx="11415252" cy="1569660"/>
          </a:xfrm>
          <a:prstGeom prst="rect">
            <a:avLst/>
          </a:prstGeom>
          <a:noFill/>
        </p:spPr>
        <p:txBody>
          <a:bodyPr wrap="square" rtlCol="0">
            <a:spAutoFit/>
          </a:bodyPr>
          <a:lstStyle/>
          <a:p>
            <a:pPr algn="just"/>
            <a:r>
              <a:rPr lang="en-IN" sz="2400" dirty="0">
                <a:latin typeface="Calibri" panose="020F0502020204030204" pitchFamily="34" charset="0"/>
                <a:ea typeface="Calibri" panose="020F0502020204030204" pitchFamily="34" charset="0"/>
                <a:cs typeface="Calibri" panose="020F0502020204030204" pitchFamily="34" charset="0"/>
              </a:rPr>
              <a:t>This presentation provides a comprehensive analysis of sales performance, customer demographics, and profitability across various product categories. The insights are derived from detailed queries and findings related to customer behaviour, sales trends, and category-wise contributions</a:t>
            </a:r>
          </a:p>
        </p:txBody>
      </p:sp>
      <p:sp>
        <p:nvSpPr>
          <p:cNvPr id="7" name="TextBox 6">
            <a:extLst>
              <a:ext uri="{FF2B5EF4-FFF2-40B4-BE49-F238E27FC236}">
                <a16:creationId xmlns:a16="http://schemas.microsoft.com/office/drawing/2014/main" id="{873D23CF-28A5-4ABB-FDB5-BCADA88519B0}"/>
              </a:ext>
            </a:extLst>
          </p:cNvPr>
          <p:cNvSpPr txBox="1"/>
          <p:nvPr/>
        </p:nvSpPr>
        <p:spPr>
          <a:xfrm>
            <a:off x="530942" y="3333134"/>
            <a:ext cx="11130116" cy="2585323"/>
          </a:xfrm>
          <a:prstGeom prst="rect">
            <a:avLst/>
          </a:prstGeom>
          <a:noFill/>
        </p:spPr>
        <p:txBody>
          <a:bodyPr wrap="square" rtlCol="0">
            <a:spAutoFit/>
          </a:bodyPr>
          <a:lstStyle>
            <a:defPPr>
              <a:defRPr lang="en-US"/>
            </a:defPPr>
            <a:lvl1pPr algn="just">
              <a:defRPr sz="2400">
                <a:latin typeface="Calibri" panose="020F0502020204030204" pitchFamily="34" charset="0"/>
                <a:ea typeface="Calibri" panose="020F0502020204030204" pitchFamily="34" charset="0"/>
                <a:cs typeface="Calibri" panose="020F0502020204030204" pitchFamily="34" charset="0"/>
              </a:defRPr>
            </a:lvl1pPr>
          </a:lstStyle>
          <a:p>
            <a:r>
              <a:rPr lang="en-US" dirty="0"/>
              <a:t>The objective of this project is to conduct Exploratory Data Analysis (EDA) to understand consumer behavior and evaluate product category performance. This involves analyzing total sales, customer demographics (age group and gender), and profitability metrics. Through techniques such as segmentation analysis, trend detection, and data visualization, the goal is to uncover actionable insights that support data-driven decision-making and strategic business improvements.</a:t>
            </a:r>
          </a:p>
          <a:p>
            <a:endParaRPr lang="en-IN" dirty="0"/>
          </a:p>
        </p:txBody>
      </p:sp>
    </p:spTree>
    <p:extLst>
      <p:ext uri="{BB962C8B-B14F-4D97-AF65-F5344CB8AC3E}">
        <p14:creationId xmlns:p14="http://schemas.microsoft.com/office/powerpoint/2010/main" val="2736439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9B95B1-EB3E-8258-CEEC-D369BA7841D7}"/>
              </a:ext>
            </a:extLst>
          </p:cNvPr>
          <p:cNvSpPr/>
          <p:nvPr/>
        </p:nvSpPr>
        <p:spPr>
          <a:xfrm>
            <a:off x="344129" y="344125"/>
            <a:ext cx="3500284" cy="6135329"/>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bg1">
                  <a:lumMod val="85000"/>
                </a:schemeClr>
              </a:solidFill>
            </a:endParaRPr>
          </a:p>
        </p:txBody>
      </p:sp>
      <p:sp>
        <p:nvSpPr>
          <p:cNvPr id="4" name="Rectangle 3">
            <a:extLst>
              <a:ext uri="{FF2B5EF4-FFF2-40B4-BE49-F238E27FC236}">
                <a16:creationId xmlns:a16="http://schemas.microsoft.com/office/drawing/2014/main" id="{B32BC5F1-0A9A-6C72-D0F5-ACE084EDF7FC}"/>
              </a:ext>
            </a:extLst>
          </p:cNvPr>
          <p:cNvSpPr/>
          <p:nvPr/>
        </p:nvSpPr>
        <p:spPr>
          <a:xfrm>
            <a:off x="4345858" y="361335"/>
            <a:ext cx="3500284" cy="6135329"/>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lumMod val="85000"/>
                </a:schemeClr>
              </a:solidFill>
            </a:endParaRPr>
          </a:p>
        </p:txBody>
      </p:sp>
      <p:sp>
        <p:nvSpPr>
          <p:cNvPr id="5" name="Rectangle 4">
            <a:extLst>
              <a:ext uri="{FF2B5EF4-FFF2-40B4-BE49-F238E27FC236}">
                <a16:creationId xmlns:a16="http://schemas.microsoft.com/office/drawing/2014/main" id="{AA04C88D-0125-96A3-643D-2BF14F21722C}"/>
              </a:ext>
            </a:extLst>
          </p:cNvPr>
          <p:cNvSpPr/>
          <p:nvPr/>
        </p:nvSpPr>
        <p:spPr>
          <a:xfrm>
            <a:off x="8347587" y="344126"/>
            <a:ext cx="3500284" cy="6135329"/>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lumMod val="85000"/>
                </a:schemeClr>
              </a:solidFill>
            </a:endParaRPr>
          </a:p>
        </p:txBody>
      </p:sp>
      <p:pic>
        <p:nvPicPr>
          <p:cNvPr id="6" name="Picture 5">
            <a:extLst>
              <a:ext uri="{FF2B5EF4-FFF2-40B4-BE49-F238E27FC236}">
                <a16:creationId xmlns:a16="http://schemas.microsoft.com/office/drawing/2014/main" id="{934F6E9A-9967-A74F-52B0-F056683507F9}"/>
              </a:ext>
            </a:extLst>
          </p:cNvPr>
          <p:cNvPicPr>
            <a:picLocks noChangeAspect="1"/>
          </p:cNvPicPr>
          <p:nvPr/>
        </p:nvPicPr>
        <p:blipFill>
          <a:blip r:embed="rId2"/>
          <a:stretch>
            <a:fillRect/>
          </a:stretch>
        </p:blipFill>
        <p:spPr>
          <a:xfrm>
            <a:off x="545607" y="4660836"/>
            <a:ext cx="3097327" cy="1571844"/>
          </a:xfrm>
          <a:prstGeom prst="rect">
            <a:avLst/>
          </a:prstGeom>
        </p:spPr>
      </p:pic>
      <p:pic>
        <p:nvPicPr>
          <p:cNvPr id="7" name="Picture 6">
            <a:extLst>
              <a:ext uri="{FF2B5EF4-FFF2-40B4-BE49-F238E27FC236}">
                <a16:creationId xmlns:a16="http://schemas.microsoft.com/office/drawing/2014/main" id="{4FFA2017-B9B9-1EF6-1B64-81C722B272AD}"/>
              </a:ext>
            </a:extLst>
          </p:cNvPr>
          <p:cNvPicPr>
            <a:picLocks noChangeAspect="1"/>
          </p:cNvPicPr>
          <p:nvPr/>
        </p:nvPicPr>
        <p:blipFill>
          <a:blip r:embed="rId3"/>
          <a:stretch>
            <a:fillRect/>
          </a:stretch>
        </p:blipFill>
        <p:spPr>
          <a:xfrm>
            <a:off x="4582340" y="4660836"/>
            <a:ext cx="3027344" cy="1571844"/>
          </a:xfrm>
          <a:prstGeom prst="rect">
            <a:avLst/>
          </a:prstGeom>
        </p:spPr>
      </p:pic>
      <p:pic>
        <p:nvPicPr>
          <p:cNvPr id="8" name="Picture 7">
            <a:extLst>
              <a:ext uri="{FF2B5EF4-FFF2-40B4-BE49-F238E27FC236}">
                <a16:creationId xmlns:a16="http://schemas.microsoft.com/office/drawing/2014/main" id="{A138357A-DD25-EF70-DBDA-E035B5EA71F5}"/>
              </a:ext>
            </a:extLst>
          </p:cNvPr>
          <p:cNvPicPr>
            <a:picLocks noChangeAspect="1"/>
          </p:cNvPicPr>
          <p:nvPr/>
        </p:nvPicPr>
        <p:blipFill>
          <a:blip r:embed="rId4"/>
          <a:stretch>
            <a:fillRect/>
          </a:stretch>
        </p:blipFill>
        <p:spPr>
          <a:xfrm>
            <a:off x="8549063" y="4660836"/>
            <a:ext cx="3097327" cy="1571844"/>
          </a:xfrm>
          <a:prstGeom prst="rect">
            <a:avLst/>
          </a:prstGeom>
        </p:spPr>
      </p:pic>
      <p:pic>
        <p:nvPicPr>
          <p:cNvPr id="10" name="Picture 9">
            <a:extLst>
              <a:ext uri="{FF2B5EF4-FFF2-40B4-BE49-F238E27FC236}">
                <a16:creationId xmlns:a16="http://schemas.microsoft.com/office/drawing/2014/main" id="{D10D42BD-24F2-D68A-C9F2-A8C9CC1AC22A}"/>
              </a:ext>
            </a:extLst>
          </p:cNvPr>
          <p:cNvPicPr>
            <a:picLocks noChangeAspect="1"/>
          </p:cNvPicPr>
          <p:nvPr/>
        </p:nvPicPr>
        <p:blipFill>
          <a:blip r:embed="rId5"/>
          <a:stretch>
            <a:fillRect/>
          </a:stretch>
        </p:blipFill>
        <p:spPr>
          <a:xfrm>
            <a:off x="545607" y="1737637"/>
            <a:ext cx="3097327" cy="2486063"/>
          </a:xfrm>
          <a:prstGeom prst="rect">
            <a:avLst/>
          </a:prstGeom>
        </p:spPr>
      </p:pic>
      <p:pic>
        <p:nvPicPr>
          <p:cNvPr id="12" name="Picture 11">
            <a:extLst>
              <a:ext uri="{FF2B5EF4-FFF2-40B4-BE49-F238E27FC236}">
                <a16:creationId xmlns:a16="http://schemas.microsoft.com/office/drawing/2014/main" id="{EF182EE3-49FD-1301-3FAA-1F36152FF9B4}"/>
              </a:ext>
            </a:extLst>
          </p:cNvPr>
          <p:cNvPicPr>
            <a:picLocks noChangeAspect="1"/>
          </p:cNvPicPr>
          <p:nvPr/>
        </p:nvPicPr>
        <p:blipFill>
          <a:blip r:embed="rId6"/>
          <a:stretch>
            <a:fillRect/>
          </a:stretch>
        </p:blipFill>
        <p:spPr>
          <a:xfrm>
            <a:off x="8619021" y="1753990"/>
            <a:ext cx="3027369" cy="2486062"/>
          </a:xfrm>
          <a:prstGeom prst="rect">
            <a:avLst/>
          </a:prstGeom>
        </p:spPr>
      </p:pic>
      <p:pic>
        <p:nvPicPr>
          <p:cNvPr id="14" name="Picture 13">
            <a:extLst>
              <a:ext uri="{FF2B5EF4-FFF2-40B4-BE49-F238E27FC236}">
                <a16:creationId xmlns:a16="http://schemas.microsoft.com/office/drawing/2014/main" id="{3828A8F1-9980-FCE0-608C-D19C8A4258AF}"/>
              </a:ext>
            </a:extLst>
          </p:cNvPr>
          <p:cNvPicPr>
            <a:picLocks noChangeAspect="1"/>
          </p:cNvPicPr>
          <p:nvPr/>
        </p:nvPicPr>
        <p:blipFill>
          <a:blip r:embed="rId7"/>
          <a:stretch>
            <a:fillRect/>
          </a:stretch>
        </p:blipFill>
        <p:spPr>
          <a:xfrm>
            <a:off x="4547336" y="1727802"/>
            <a:ext cx="3097327" cy="2495898"/>
          </a:xfrm>
          <a:prstGeom prst="rect">
            <a:avLst/>
          </a:prstGeom>
        </p:spPr>
      </p:pic>
      <p:sp>
        <p:nvSpPr>
          <p:cNvPr id="15" name="TextBox 14">
            <a:extLst>
              <a:ext uri="{FF2B5EF4-FFF2-40B4-BE49-F238E27FC236}">
                <a16:creationId xmlns:a16="http://schemas.microsoft.com/office/drawing/2014/main" id="{4E631DCB-B604-A17C-224D-74B0D48F4C2D}"/>
              </a:ext>
            </a:extLst>
          </p:cNvPr>
          <p:cNvSpPr txBox="1"/>
          <p:nvPr/>
        </p:nvSpPr>
        <p:spPr>
          <a:xfrm>
            <a:off x="545606" y="758811"/>
            <a:ext cx="3097327" cy="400110"/>
          </a:xfrm>
          <a:prstGeom prst="rect">
            <a:avLst/>
          </a:prstGeom>
          <a:noFill/>
        </p:spPr>
        <p:txBody>
          <a:bodyPr wrap="square" rtlCol="0">
            <a:spAutoFit/>
          </a:bodyPr>
          <a:lstStyle/>
          <a:p>
            <a:r>
              <a:rPr lang="en-IN" sz="2000" b="1" dirty="0"/>
              <a:t>Total Sales by Category</a:t>
            </a:r>
          </a:p>
        </p:txBody>
      </p:sp>
      <p:sp>
        <p:nvSpPr>
          <p:cNvPr id="17" name="TextBox 16">
            <a:extLst>
              <a:ext uri="{FF2B5EF4-FFF2-40B4-BE49-F238E27FC236}">
                <a16:creationId xmlns:a16="http://schemas.microsoft.com/office/drawing/2014/main" id="{9968A0DA-C8D6-E426-E6FA-B840E66C4571}"/>
              </a:ext>
            </a:extLst>
          </p:cNvPr>
          <p:cNvSpPr txBox="1"/>
          <p:nvPr/>
        </p:nvSpPr>
        <p:spPr>
          <a:xfrm>
            <a:off x="8549063" y="625320"/>
            <a:ext cx="3097327" cy="707886"/>
          </a:xfrm>
          <a:prstGeom prst="rect">
            <a:avLst/>
          </a:prstGeom>
          <a:noFill/>
        </p:spPr>
        <p:txBody>
          <a:bodyPr wrap="square" rtlCol="0">
            <a:spAutoFit/>
          </a:bodyPr>
          <a:lstStyle/>
          <a:p>
            <a:r>
              <a:rPr lang="en-IN" sz="2000" b="1" dirty="0"/>
              <a:t>Average Age of customers in the Electronics Category</a:t>
            </a:r>
          </a:p>
        </p:txBody>
      </p:sp>
      <p:sp>
        <p:nvSpPr>
          <p:cNvPr id="18" name="TextBox 17">
            <a:extLst>
              <a:ext uri="{FF2B5EF4-FFF2-40B4-BE49-F238E27FC236}">
                <a16:creationId xmlns:a16="http://schemas.microsoft.com/office/drawing/2014/main" id="{2ABD3115-46DF-DFEF-9031-A7420902CEE9}"/>
              </a:ext>
            </a:extLst>
          </p:cNvPr>
          <p:cNvSpPr txBox="1"/>
          <p:nvPr/>
        </p:nvSpPr>
        <p:spPr>
          <a:xfrm>
            <a:off x="4534183" y="625320"/>
            <a:ext cx="3123634" cy="707886"/>
          </a:xfrm>
          <a:prstGeom prst="rect">
            <a:avLst/>
          </a:prstGeom>
          <a:noFill/>
        </p:spPr>
        <p:txBody>
          <a:bodyPr wrap="square" rtlCol="0">
            <a:spAutoFit/>
          </a:bodyPr>
          <a:lstStyle/>
          <a:p>
            <a:r>
              <a:rPr lang="en-IN" sz="2000" b="1" dirty="0"/>
              <a:t>Gender contribution to Electronics Category</a:t>
            </a:r>
          </a:p>
        </p:txBody>
      </p:sp>
    </p:spTree>
    <p:extLst>
      <p:ext uri="{BB962C8B-B14F-4D97-AF65-F5344CB8AC3E}">
        <p14:creationId xmlns:p14="http://schemas.microsoft.com/office/powerpoint/2010/main" val="3733482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EDE3C-72E0-C92F-34FE-8805F54953B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F6C9DD1-E8B7-3E1A-D3E3-2FE895A1C950}"/>
              </a:ext>
            </a:extLst>
          </p:cNvPr>
          <p:cNvSpPr/>
          <p:nvPr/>
        </p:nvSpPr>
        <p:spPr>
          <a:xfrm>
            <a:off x="344129" y="344125"/>
            <a:ext cx="3500284" cy="6135329"/>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bg1">
                  <a:lumMod val="85000"/>
                </a:schemeClr>
              </a:solidFill>
            </a:endParaRPr>
          </a:p>
        </p:txBody>
      </p:sp>
      <p:sp>
        <p:nvSpPr>
          <p:cNvPr id="4" name="Rectangle 3">
            <a:extLst>
              <a:ext uri="{FF2B5EF4-FFF2-40B4-BE49-F238E27FC236}">
                <a16:creationId xmlns:a16="http://schemas.microsoft.com/office/drawing/2014/main" id="{EACD834E-CB3F-0024-B666-5ED72ED2F66B}"/>
              </a:ext>
            </a:extLst>
          </p:cNvPr>
          <p:cNvSpPr/>
          <p:nvPr/>
        </p:nvSpPr>
        <p:spPr>
          <a:xfrm>
            <a:off x="4345858" y="361335"/>
            <a:ext cx="3500284" cy="6135329"/>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lumMod val="85000"/>
                </a:schemeClr>
              </a:solidFill>
            </a:endParaRPr>
          </a:p>
        </p:txBody>
      </p:sp>
      <p:sp>
        <p:nvSpPr>
          <p:cNvPr id="5" name="Rectangle 4">
            <a:extLst>
              <a:ext uri="{FF2B5EF4-FFF2-40B4-BE49-F238E27FC236}">
                <a16:creationId xmlns:a16="http://schemas.microsoft.com/office/drawing/2014/main" id="{70559407-C655-BDDF-84B9-8CCB3CBE656F}"/>
              </a:ext>
            </a:extLst>
          </p:cNvPr>
          <p:cNvSpPr/>
          <p:nvPr/>
        </p:nvSpPr>
        <p:spPr>
          <a:xfrm>
            <a:off x="8347587" y="344126"/>
            <a:ext cx="3500284" cy="6135329"/>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lumMod val="85000"/>
                </a:schemeClr>
              </a:solidFill>
            </a:endParaRPr>
          </a:p>
        </p:txBody>
      </p:sp>
      <p:sp>
        <p:nvSpPr>
          <p:cNvPr id="15" name="TextBox 14">
            <a:extLst>
              <a:ext uri="{FF2B5EF4-FFF2-40B4-BE49-F238E27FC236}">
                <a16:creationId xmlns:a16="http://schemas.microsoft.com/office/drawing/2014/main" id="{90FC1837-4B16-9D1F-1914-221C16866EC2}"/>
              </a:ext>
            </a:extLst>
          </p:cNvPr>
          <p:cNvSpPr txBox="1"/>
          <p:nvPr/>
        </p:nvSpPr>
        <p:spPr>
          <a:xfrm>
            <a:off x="561173" y="587296"/>
            <a:ext cx="2956968" cy="400110"/>
          </a:xfrm>
          <a:prstGeom prst="rect">
            <a:avLst/>
          </a:prstGeom>
          <a:noFill/>
        </p:spPr>
        <p:txBody>
          <a:bodyPr wrap="square" rtlCol="0">
            <a:spAutoFit/>
          </a:bodyPr>
          <a:lstStyle/>
          <a:p>
            <a:r>
              <a:rPr lang="en-IN" sz="2000" b="1" dirty="0"/>
              <a:t>Top 5 Customers by Sales</a:t>
            </a:r>
          </a:p>
        </p:txBody>
      </p:sp>
      <p:sp>
        <p:nvSpPr>
          <p:cNvPr id="17" name="TextBox 16">
            <a:extLst>
              <a:ext uri="{FF2B5EF4-FFF2-40B4-BE49-F238E27FC236}">
                <a16:creationId xmlns:a16="http://schemas.microsoft.com/office/drawing/2014/main" id="{418DBA00-6D99-D685-70A4-8B548A556B5F}"/>
              </a:ext>
            </a:extLst>
          </p:cNvPr>
          <p:cNvSpPr txBox="1"/>
          <p:nvPr/>
        </p:nvSpPr>
        <p:spPr>
          <a:xfrm>
            <a:off x="8613058" y="539926"/>
            <a:ext cx="3017769" cy="1015663"/>
          </a:xfrm>
          <a:prstGeom prst="rect">
            <a:avLst/>
          </a:prstGeom>
          <a:noFill/>
        </p:spPr>
        <p:txBody>
          <a:bodyPr wrap="square" rtlCol="0">
            <a:spAutoFit/>
          </a:bodyPr>
          <a:lstStyle/>
          <a:p>
            <a:r>
              <a:rPr lang="en-IN" sz="2000" b="1" dirty="0"/>
              <a:t>Highest Customer count by Category, Gender &amp; Age Group</a:t>
            </a:r>
          </a:p>
        </p:txBody>
      </p:sp>
      <p:sp>
        <p:nvSpPr>
          <p:cNvPr id="18" name="TextBox 17">
            <a:extLst>
              <a:ext uri="{FF2B5EF4-FFF2-40B4-BE49-F238E27FC236}">
                <a16:creationId xmlns:a16="http://schemas.microsoft.com/office/drawing/2014/main" id="{254078F6-C2E6-BB59-6900-80DA1C1A27E2}"/>
              </a:ext>
            </a:extLst>
          </p:cNvPr>
          <p:cNvSpPr txBox="1"/>
          <p:nvPr/>
        </p:nvSpPr>
        <p:spPr>
          <a:xfrm>
            <a:off x="4565782" y="581963"/>
            <a:ext cx="3078627" cy="1015663"/>
          </a:xfrm>
          <a:prstGeom prst="rect">
            <a:avLst/>
          </a:prstGeom>
          <a:noFill/>
        </p:spPr>
        <p:txBody>
          <a:bodyPr wrap="square" rtlCol="0">
            <a:spAutoFit/>
          </a:bodyPr>
          <a:lstStyle/>
          <a:p>
            <a:r>
              <a:rPr lang="en-IN" sz="2000" b="1" dirty="0"/>
              <a:t>Customer count by Category, Gender &amp; Age Group</a:t>
            </a:r>
          </a:p>
        </p:txBody>
      </p:sp>
      <p:pic>
        <p:nvPicPr>
          <p:cNvPr id="3" name="Picture 2">
            <a:extLst>
              <a:ext uri="{FF2B5EF4-FFF2-40B4-BE49-F238E27FC236}">
                <a16:creationId xmlns:a16="http://schemas.microsoft.com/office/drawing/2014/main" id="{054D9B26-A638-BA3D-5379-D784635E4BB1}"/>
              </a:ext>
            </a:extLst>
          </p:cNvPr>
          <p:cNvPicPr>
            <a:picLocks noChangeAspect="1"/>
          </p:cNvPicPr>
          <p:nvPr/>
        </p:nvPicPr>
        <p:blipFill>
          <a:blip r:embed="rId2"/>
          <a:stretch>
            <a:fillRect/>
          </a:stretch>
        </p:blipFill>
        <p:spPr>
          <a:xfrm>
            <a:off x="457709" y="3706760"/>
            <a:ext cx="3060432" cy="2566638"/>
          </a:xfrm>
          <a:prstGeom prst="rect">
            <a:avLst/>
          </a:prstGeom>
        </p:spPr>
      </p:pic>
      <p:pic>
        <p:nvPicPr>
          <p:cNvPr id="19" name="Picture 18">
            <a:extLst>
              <a:ext uri="{FF2B5EF4-FFF2-40B4-BE49-F238E27FC236}">
                <a16:creationId xmlns:a16="http://schemas.microsoft.com/office/drawing/2014/main" id="{8387961D-CB84-ED70-E31B-ECC9E88BF92E}"/>
              </a:ext>
            </a:extLst>
          </p:cNvPr>
          <p:cNvPicPr>
            <a:picLocks noChangeAspect="1"/>
          </p:cNvPicPr>
          <p:nvPr/>
        </p:nvPicPr>
        <p:blipFill>
          <a:blip r:embed="rId3"/>
          <a:stretch>
            <a:fillRect/>
          </a:stretch>
        </p:blipFill>
        <p:spPr>
          <a:xfrm>
            <a:off x="4547139" y="1656743"/>
            <a:ext cx="3060432" cy="1826750"/>
          </a:xfrm>
          <a:prstGeom prst="rect">
            <a:avLst/>
          </a:prstGeom>
        </p:spPr>
      </p:pic>
      <p:pic>
        <p:nvPicPr>
          <p:cNvPr id="20" name="Picture 19">
            <a:extLst>
              <a:ext uri="{FF2B5EF4-FFF2-40B4-BE49-F238E27FC236}">
                <a16:creationId xmlns:a16="http://schemas.microsoft.com/office/drawing/2014/main" id="{8D019103-3F68-0DA4-8F6E-F4E2B1F017A2}"/>
              </a:ext>
            </a:extLst>
          </p:cNvPr>
          <p:cNvPicPr>
            <a:picLocks noChangeAspect="1"/>
          </p:cNvPicPr>
          <p:nvPr/>
        </p:nvPicPr>
        <p:blipFill>
          <a:blip r:embed="rId4"/>
          <a:stretch>
            <a:fillRect/>
          </a:stretch>
        </p:blipFill>
        <p:spPr>
          <a:xfrm>
            <a:off x="8613058" y="5273133"/>
            <a:ext cx="3005730" cy="1000265"/>
          </a:xfrm>
          <a:prstGeom prst="rect">
            <a:avLst/>
          </a:prstGeom>
        </p:spPr>
      </p:pic>
      <p:pic>
        <p:nvPicPr>
          <p:cNvPr id="22" name="Picture 21">
            <a:extLst>
              <a:ext uri="{FF2B5EF4-FFF2-40B4-BE49-F238E27FC236}">
                <a16:creationId xmlns:a16="http://schemas.microsoft.com/office/drawing/2014/main" id="{1416008C-ADED-5AF7-D1C0-630FBD5946E2}"/>
              </a:ext>
            </a:extLst>
          </p:cNvPr>
          <p:cNvPicPr>
            <a:picLocks noChangeAspect="1"/>
          </p:cNvPicPr>
          <p:nvPr/>
        </p:nvPicPr>
        <p:blipFill>
          <a:blip r:embed="rId5"/>
          <a:stretch>
            <a:fillRect/>
          </a:stretch>
        </p:blipFill>
        <p:spPr>
          <a:xfrm>
            <a:off x="8594864" y="1718611"/>
            <a:ext cx="3023924" cy="3425059"/>
          </a:xfrm>
          <a:prstGeom prst="rect">
            <a:avLst/>
          </a:prstGeom>
        </p:spPr>
      </p:pic>
      <p:pic>
        <p:nvPicPr>
          <p:cNvPr id="24" name="Picture 23">
            <a:extLst>
              <a:ext uri="{FF2B5EF4-FFF2-40B4-BE49-F238E27FC236}">
                <a16:creationId xmlns:a16="http://schemas.microsoft.com/office/drawing/2014/main" id="{E999D1D7-2F47-30A9-B33F-547A27C74027}"/>
              </a:ext>
            </a:extLst>
          </p:cNvPr>
          <p:cNvPicPr>
            <a:picLocks noChangeAspect="1"/>
          </p:cNvPicPr>
          <p:nvPr/>
        </p:nvPicPr>
        <p:blipFill>
          <a:blip r:embed="rId6"/>
          <a:stretch>
            <a:fillRect/>
          </a:stretch>
        </p:blipFill>
        <p:spPr>
          <a:xfrm>
            <a:off x="4565783" y="3706760"/>
            <a:ext cx="3041788" cy="2566637"/>
          </a:xfrm>
          <a:prstGeom prst="rect">
            <a:avLst/>
          </a:prstGeom>
        </p:spPr>
      </p:pic>
      <p:pic>
        <p:nvPicPr>
          <p:cNvPr id="6" name="Picture 5">
            <a:extLst>
              <a:ext uri="{FF2B5EF4-FFF2-40B4-BE49-F238E27FC236}">
                <a16:creationId xmlns:a16="http://schemas.microsoft.com/office/drawing/2014/main" id="{6D33DEAB-9B35-D02F-D7CE-CF7A67ED405B}"/>
              </a:ext>
            </a:extLst>
          </p:cNvPr>
          <p:cNvPicPr>
            <a:picLocks noChangeAspect="1"/>
          </p:cNvPicPr>
          <p:nvPr/>
        </p:nvPicPr>
        <p:blipFill>
          <a:blip r:embed="rId7"/>
          <a:stretch>
            <a:fillRect/>
          </a:stretch>
        </p:blipFill>
        <p:spPr>
          <a:xfrm>
            <a:off x="509440" y="1656743"/>
            <a:ext cx="3060433" cy="1867161"/>
          </a:xfrm>
          <a:prstGeom prst="rect">
            <a:avLst/>
          </a:prstGeom>
        </p:spPr>
      </p:pic>
    </p:spTree>
    <p:extLst>
      <p:ext uri="{BB962C8B-B14F-4D97-AF65-F5344CB8AC3E}">
        <p14:creationId xmlns:p14="http://schemas.microsoft.com/office/powerpoint/2010/main" val="1175009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3FA35-EA9D-7741-A545-A1F822923A2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824057-069E-21E9-07F9-B8A1AB53D682}"/>
              </a:ext>
            </a:extLst>
          </p:cNvPr>
          <p:cNvSpPr/>
          <p:nvPr/>
        </p:nvSpPr>
        <p:spPr>
          <a:xfrm>
            <a:off x="344129" y="344125"/>
            <a:ext cx="3500284" cy="6135329"/>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bg1">
                  <a:lumMod val="85000"/>
                </a:schemeClr>
              </a:solidFill>
            </a:endParaRPr>
          </a:p>
        </p:txBody>
      </p:sp>
      <p:sp>
        <p:nvSpPr>
          <p:cNvPr id="4" name="Rectangle 3">
            <a:extLst>
              <a:ext uri="{FF2B5EF4-FFF2-40B4-BE49-F238E27FC236}">
                <a16:creationId xmlns:a16="http://schemas.microsoft.com/office/drawing/2014/main" id="{2F6682AA-9EAA-3AD4-57BD-93315AC43C7E}"/>
              </a:ext>
            </a:extLst>
          </p:cNvPr>
          <p:cNvSpPr/>
          <p:nvPr/>
        </p:nvSpPr>
        <p:spPr>
          <a:xfrm>
            <a:off x="4345858" y="361335"/>
            <a:ext cx="3500284" cy="6135329"/>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lumMod val="85000"/>
                </a:schemeClr>
              </a:solidFill>
            </a:endParaRPr>
          </a:p>
        </p:txBody>
      </p:sp>
      <p:sp>
        <p:nvSpPr>
          <p:cNvPr id="5" name="Rectangle 4">
            <a:extLst>
              <a:ext uri="{FF2B5EF4-FFF2-40B4-BE49-F238E27FC236}">
                <a16:creationId xmlns:a16="http://schemas.microsoft.com/office/drawing/2014/main" id="{2AB812CE-CFD5-3B7F-4F41-FA7B059D573D}"/>
              </a:ext>
            </a:extLst>
          </p:cNvPr>
          <p:cNvSpPr/>
          <p:nvPr/>
        </p:nvSpPr>
        <p:spPr>
          <a:xfrm>
            <a:off x="8347587" y="344126"/>
            <a:ext cx="3500284" cy="6135329"/>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lumMod val="85000"/>
                </a:schemeClr>
              </a:solidFill>
            </a:endParaRPr>
          </a:p>
        </p:txBody>
      </p:sp>
      <p:sp>
        <p:nvSpPr>
          <p:cNvPr id="15" name="TextBox 14">
            <a:extLst>
              <a:ext uri="{FF2B5EF4-FFF2-40B4-BE49-F238E27FC236}">
                <a16:creationId xmlns:a16="http://schemas.microsoft.com/office/drawing/2014/main" id="{51BBD082-7A29-0D70-925A-51A50BDD75E7}"/>
              </a:ext>
            </a:extLst>
          </p:cNvPr>
          <p:cNvSpPr txBox="1"/>
          <p:nvPr/>
        </p:nvSpPr>
        <p:spPr>
          <a:xfrm>
            <a:off x="494158" y="678426"/>
            <a:ext cx="3114281" cy="400110"/>
          </a:xfrm>
          <a:prstGeom prst="rect">
            <a:avLst/>
          </a:prstGeom>
          <a:noFill/>
        </p:spPr>
        <p:txBody>
          <a:bodyPr wrap="square" rtlCol="0">
            <a:spAutoFit/>
          </a:bodyPr>
          <a:lstStyle/>
          <a:p>
            <a:r>
              <a:rPr lang="en-IN" sz="2000" b="1" dirty="0"/>
              <a:t>Profit Analysis by Category</a:t>
            </a:r>
          </a:p>
        </p:txBody>
      </p:sp>
      <p:sp>
        <p:nvSpPr>
          <p:cNvPr id="17" name="TextBox 16">
            <a:extLst>
              <a:ext uri="{FF2B5EF4-FFF2-40B4-BE49-F238E27FC236}">
                <a16:creationId xmlns:a16="http://schemas.microsoft.com/office/drawing/2014/main" id="{1B55EC3A-F79E-DAD5-8C9E-A39B43229933}"/>
              </a:ext>
            </a:extLst>
          </p:cNvPr>
          <p:cNvSpPr txBox="1"/>
          <p:nvPr/>
        </p:nvSpPr>
        <p:spPr>
          <a:xfrm>
            <a:off x="8540589" y="539926"/>
            <a:ext cx="3114282" cy="707886"/>
          </a:xfrm>
          <a:prstGeom prst="rect">
            <a:avLst/>
          </a:prstGeom>
          <a:noFill/>
        </p:spPr>
        <p:txBody>
          <a:bodyPr wrap="square" rtlCol="0">
            <a:spAutoFit/>
          </a:bodyPr>
          <a:lstStyle/>
          <a:p>
            <a:r>
              <a:rPr lang="en-US" sz="2000" b="1" dirty="0"/>
              <a:t>Number of Transactions by Category and Shift Timing</a:t>
            </a:r>
          </a:p>
        </p:txBody>
      </p:sp>
      <p:sp>
        <p:nvSpPr>
          <p:cNvPr id="18" name="TextBox 17">
            <a:extLst>
              <a:ext uri="{FF2B5EF4-FFF2-40B4-BE49-F238E27FC236}">
                <a16:creationId xmlns:a16="http://schemas.microsoft.com/office/drawing/2014/main" id="{54AA458D-EA47-05D4-FA28-6FF4402C93C3}"/>
              </a:ext>
            </a:extLst>
          </p:cNvPr>
          <p:cNvSpPr txBox="1"/>
          <p:nvPr/>
        </p:nvSpPr>
        <p:spPr>
          <a:xfrm>
            <a:off x="4538859" y="583425"/>
            <a:ext cx="3114282" cy="707886"/>
          </a:xfrm>
          <a:prstGeom prst="rect">
            <a:avLst/>
          </a:prstGeom>
          <a:noFill/>
        </p:spPr>
        <p:txBody>
          <a:bodyPr wrap="square" rtlCol="0">
            <a:spAutoFit/>
          </a:bodyPr>
          <a:lstStyle/>
          <a:p>
            <a:r>
              <a:rPr lang="en-IN" sz="2000" b="1" dirty="0"/>
              <a:t>Yearly Highest Average Total Sales</a:t>
            </a:r>
          </a:p>
        </p:txBody>
      </p:sp>
      <p:pic>
        <p:nvPicPr>
          <p:cNvPr id="6" name="Picture 5">
            <a:extLst>
              <a:ext uri="{FF2B5EF4-FFF2-40B4-BE49-F238E27FC236}">
                <a16:creationId xmlns:a16="http://schemas.microsoft.com/office/drawing/2014/main" id="{CE81C7A6-FCA7-E735-65F2-4612D80505EA}"/>
              </a:ext>
            </a:extLst>
          </p:cNvPr>
          <p:cNvPicPr>
            <a:picLocks noChangeAspect="1"/>
          </p:cNvPicPr>
          <p:nvPr/>
        </p:nvPicPr>
        <p:blipFill>
          <a:blip r:embed="rId2"/>
          <a:stretch>
            <a:fillRect/>
          </a:stretch>
        </p:blipFill>
        <p:spPr>
          <a:xfrm>
            <a:off x="494158" y="3926400"/>
            <a:ext cx="3114282" cy="2253174"/>
          </a:xfrm>
          <a:prstGeom prst="rect">
            <a:avLst/>
          </a:prstGeom>
        </p:spPr>
      </p:pic>
      <p:pic>
        <p:nvPicPr>
          <p:cNvPr id="7" name="Picture 6">
            <a:extLst>
              <a:ext uri="{FF2B5EF4-FFF2-40B4-BE49-F238E27FC236}">
                <a16:creationId xmlns:a16="http://schemas.microsoft.com/office/drawing/2014/main" id="{12A68C01-E0FA-A8CD-2AD4-2824CEE17DF3}"/>
              </a:ext>
            </a:extLst>
          </p:cNvPr>
          <p:cNvPicPr>
            <a:picLocks noChangeAspect="1"/>
          </p:cNvPicPr>
          <p:nvPr/>
        </p:nvPicPr>
        <p:blipFill>
          <a:blip r:embed="rId3"/>
          <a:stretch>
            <a:fillRect/>
          </a:stretch>
        </p:blipFill>
        <p:spPr>
          <a:xfrm>
            <a:off x="4538859" y="3926400"/>
            <a:ext cx="3114282" cy="2348175"/>
          </a:xfrm>
          <a:prstGeom prst="rect">
            <a:avLst/>
          </a:prstGeom>
        </p:spPr>
      </p:pic>
      <p:pic>
        <p:nvPicPr>
          <p:cNvPr id="9" name="Picture 8">
            <a:extLst>
              <a:ext uri="{FF2B5EF4-FFF2-40B4-BE49-F238E27FC236}">
                <a16:creationId xmlns:a16="http://schemas.microsoft.com/office/drawing/2014/main" id="{9817B0A0-2512-2234-80F8-9ACD2529394A}"/>
              </a:ext>
            </a:extLst>
          </p:cNvPr>
          <p:cNvPicPr>
            <a:picLocks noChangeAspect="1"/>
          </p:cNvPicPr>
          <p:nvPr/>
        </p:nvPicPr>
        <p:blipFill>
          <a:blip r:embed="rId4"/>
          <a:stretch>
            <a:fillRect/>
          </a:stretch>
        </p:blipFill>
        <p:spPr>
          <a:xfrm>
            <a:off x="494158" y="1590719"/>
            <a:ext cx="3114282" cy="2056554"/>
          </a:xfrm>
          <a:prstGeom prst="rect">
            <a:avLst/>
          </a:prstGeom>
        </p:spPr>
      </p:pic>
      <p:pic>
        <p:nvPicPr>
          <p:cNvPr id="12" name="Picture 11">
            <a:extLst>
              <a:ext uri="{FF2B5EF4-FFF2-40B4-BE49-F238E27FC236}">
                <a16:creationId xmlns:a16="http://schemas.microsoft.com/office/drawing/2014/main" id="{D746ACE9-25A3-EB6E-B00C-F90C688997EB}"/>
              </a:ext>
            </a:extLst>
          </p:cNvPr>
          <p:cNvPicPr>
            <a:picLocks noChangeAspect="1"/>
          </p:cNvPicPr>
          <p:nvPr/>
        </p:nvPicPr>
        <p:blipFill>
          <a:blip r:embed="rId5"/>
          <a:stretch>
            <a:fillRect/>
          </a:stretch>
        </p:blipFill>
        <p:spPr>
          <a:xfrm>
            <a:off x="4538859" y="1561345"/>
            <a:ext cx="3114282" cy="2085928"/>
          </a:xfrm>
          <a:prstGeom prst="rect">
            <a:avLst/>
          </a:prstGeom>
        </p:spPr>
      </p:pic>
      <p:pic>
        <p:nvPicPr>
          <p:cNvPr id="19" name="Picture 18">
            <a:extLst>
              <a:ext uri="{FF2B5EF4-FFF2-40B4-BE49-F238E27FC236}">
                <a16:creationId xmlns:a16="http://schemas.microsoft.com/office/drawing/2014/main" id="{D7CCEFCD-39D3-0FA7-6333-5C27E5A5CD1D}"/>
              </a:ext>
            </a:extLst>
          </p:cNvPr>
          <p:cNvPicPr>
            <a:picLocks noChangeAspect="1"/>
          </p:cNvPicPr>
          <p:nvPr/>
        </p:nvPicPr>
        <p:blipFill>
          <a:blip r:embed="rId6"/>
          <a:stretch>
            <a:fillRect/>
          </a:stretch>
        </p:blipFill>
        <p:spPr>
          <a:xfrm>
            <a:off x="8540588" y="1590719"/>
            <a:ext cx="3114282" cy="2056554"/>
          </a:xfrm>
          <a:prstGeom prst="rect">
            <a:avLst/>
          </a:prstGeom>
        </p:spPr>
      </p:pic>
      <p:pic>
        <p:nvPicPr>
          <p:cNvPr id="21" name="Picture 20">
            <a:extLst>
              <a:ext uri="{FF2B5EF4-FFF2-40B4-BE49-F238E27FC236}">
                <a16:creationId xmlns:a16="http://schemas.microsoft.com/office/drawing/2014/main" id="{8F18B6E4-25E2-1724-C51D-F140C8818F34}"/>
              </a:ext>
            </a:extLst>
          </p:cNvPr>
          <p:cNvPicPr>
            <a:picLocks noChangeAspect="1"/>
          </p:cNvPicPr>
          <p:nvPr/>
        </p:nvPicPr>
        <p:blipFill>
          <a:blip r:embed="rId7"/>
          <a:stretch>
            <a:fillRect/>
          </a:stretch>
        </p:blipFill>
        <p:spPr>
          <a:xfrm>
            <a:off x="8540588" y="3926400"/>
            <a:ext cx="3143689" cy="2348175"/>
          </a:xfrm>
          <a:prstGeom prst="rect">
            <a:avLst/>
          </a:prstGeom>
        </p:spPr>
      </p:pic>
    </p:spTree>
    <p:extLst>
      <p:ext uri="{BB962C8B-B14F-4D97-AF65-F5344CB8AC3E}">
        <p14:creationId xmlns:p14="http://schemas.microsoft.com/office/powerpoint/2010/main" val="222348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984AB-048A-872E-D48D-B883D125E0A0}"/>
              </a:ext>
            </a:extLst>
          </p:cNvPr>
          <p:cNvSpPr>
            <a:spLocks noGrp="1"/>
          </p:cNvSpPr>
          <p:nvPr>
            <p:ph type="title"/>
          </p:nvPr>
        </p:nvSpPr>
        <p:spPr>
          <a:xfrm>
            <a:off x="560439" y="326661"/>
            <a:ext cx="10515600" cy="461615"/>
          </a:xfrm>
        </p:spPr>
        <p:txBody>
          <a:bodyPr>
            <a:noAutofit/>
          </a:bodyPr>
          <a:lstStyle/>
          <a:p>
            <a:pPr algn="ctr"/>
            <a:r>
              <a:rPr lang="en-US" sz="2800" b="1" dirty="0">
                <a:latin typeface="Arial Black" panose="020B0A04020102020204" pitchFamily="34" charset="0"/>
              </a:rPr>
              <a:t>Analysis and </a:t>
            </a:r>
            <a:r>
              <a:rPr lang="en-IN" sz="2800" b="1" dirty="0">
                <a:latin typeface="Arial Black" panose="020B0A04020102020204" pitchFamily="34" charset="0"/>
              </a:rPr>
              <a:t>Insights</a:t>
            </a:r>
          </a:p>
        </p:txBody>
      </p:sp>
      <p:sp>
        <p:nvSpPr>
          <p:cNvPr id="5" name="TextBox 4">
            <a:extLst>
              <a:ext uri="{FF2B5EF4-FFF2-40B4-BE49-F238E27FC236}">
                <a16:creationId xmlns:a16="http://schemas.microsoft.com/office/drawing/2014/main" id="{1D9C3165-6D5D-A5A0-9496-6E076BA26C59}"/>
              </a:ext>
            </a:extLst>
          </p:cNvPr>
          <p:cNvSpPr txBox="1"/>
          <p:nvPr/>
        </p:nvSpPr>
        <p:spPr>
          <a:xfrm>
            <a:off x="560439" y="934929"/>
            <a:ext cx="10972799" cy="5478423"/>
          </a:xfrm>
          <a:prstGeom prst="rect">
            <a:avLst/>
          </a:prstGeom>
          <a:noFill/>
        </p:spPr>
        <p:txBody>
          <a:bodyPr wrap="square" rtlCol="0">
            <a:spAutoFit/>
          </a:bodyPr>
          <a:lstStyle/>
          <a:p>
            <a:pPr marL="285750" indent="-285750">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Electronics Category Dominance</a:t>
            </a:r>
            <a:br>
              <a:rPr lang="en-US" sz="1400" dirty="0">
                <a:latin typeface="Calibri" panose="020F0502020204030204" pitchFamily="34" charset="0"/>
                <a:ea typeface="Calibri" panose="020F0502020204030204" pitchFamily="34" charset="0"/>
                <a:cs typeface="Calibri" panose="020F0502020204030204" pitchFamily="34" charset="0"/>
              </a:rPr>
            </a:br>
            <a:r>
              <a:rPr lang="en-US" sz="1400" dirty="0">
                <a:latin typeface="Calibri" panose="020F0502020204030204" pitchFamily="34" charset="0"/>
                <a:ea typeface="Calibri" panose="020F0502020204030204" pitchFamily="34" charset="0"/>
                <a:cs typeface="Calibri" panose="020F0502020204030204" pitchFamily="34" charset="0"/>
              </a:rPr>
              <a:t>The Electronics category recorded the highest total sales among all product categories.</a:t>
            </a:r>
          </a:p>
          <a:p>
            <a:pPr marL="285750" indent="-285750">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Customer Demographics in Electronics</a:t>
            </a:r>
            <a:br>
              <a:rPr lang="en-US" sz="1400" b="1" dirty="0">
                <a:latin typeface="Calibri" panose="020F0502020204030204" pitchFamily="34" charset="0"/>
                <a:ea typeface="Calibri" panose="020F0502020204030204" pitchFamily="34" charset="0"/>
                <a:cs typeface="Calibri" panose="020F0502020204030204" pitchFamily="34" charset="0"/>
              </a:rPr>
            </a:br>
            <a:r>
              <a:rPr lang="en-US" sz="1400" dirty="0">
                <a:latin typeface="Calibri" panose="020F0502020204030204" pitchFamily="34" charset="0"/>
                <a:ea typeface="Calibri" panose="020F0502020204030204" pitchFamily="34" charset="0"/>
                <a:cs typeface="Calibri" panose="020F0502020204030204" pitchFamily="34" charset="0"/>
              </a:rPr>
              <a:t>The average age of customers purchasing electronics is approximately 41.60 years, indicating a mature customer base.</a:t>
            </a:r>
          </a:p>
          <a:p>
            <a:pPr marL="285750" indent="-285750">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Gender Contribution to Electronics Sales</a:t>
            </a:r>
            <a:br>
              <a:rPr lang="en-US" sz="1400" dirty="0">
                <a:latin typeface="Calibri" panose="020F0502020204030204" pitchFamily="34" charset="0"/>
                <a:ea typeface="Calibri" panose="020F0502020204030204" pitchFamily="34" charset="0"/>
                <a:cs typeface="Calibri" panose="020F0502020204030204" pitchFamily="34" charset="0"/>
              </a:rPr>
            </a:br>
            <a:r>
              <a:rPr lang="en-US" sz="1400" dirty="0">
                <a:latin typeface="Calibri" panose="020F0502020204030204" pitchFamily="34" charset="0"/>
                <a:ea typeface="Calibri" panose="020F0502020204030204" pitchFamily="34" charset="0"/>
                <a:cs typeface="Calibri" panose="020F0502020204030204" pitchFamily="34" charset="0"/>
              </a:rPr>
              <a:t>Male customers contributed a higher total sales amount in the Electronics category compared to female customers.</a:t>
            </a:r>
          </a:p>
          <a:p>
            <a:pPr marL="285750" indent="-285750">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Top Performing Customers</a:t>
            </a:r>
            <a:br>
              <a:rPr lang="en-US" sz="1400" dirty="0">
                <a:latin typeface="Calibri" panose="020F0502020204030204" pitchFamily="34" charset="0"/>
                <a:ea typeface="Calibri" panose="020F0502020204030204" pitchFamily="34" charset="0"/>
                <a:cs typeface="Calibri" panose="020F0502020204030204" pitchFamily="34" charset="0"/>
              </a:rPr>
            </a:br>
            <a:r>
              <a:rPr lang="en-US" sz="1400" dirty="0">
                <a:latin typeface="Calibri" panose="020F0502020204030204" pitchFamily="34" charset="0"/>
                <a:ea typeface="Calibri" panose="020F0502020204030204" pitchFamily="34" charset="0"/>
                <a:cs typeface="Calibri" panose="020F0502020204030204" pitchFamily="34" charset="0"/>
              </a:rPr>
              <a:t>The analysis identified the top 5 customers based on their total purchase value.</a:t>
            </a:r>
          </a:p>
          <a:p>
            <a:pPr marL="285750" indent="-285750">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Age Group Distribution Across Categories</a:t>
            </a:r>
            <a:br>
              <a:rPr lang="en-US" sz="1400" dirty="0">
                <a:latin typeface="Calibri" panose="020F0502020204030204" pitchFamily="34" charset="0"/>
                <a:ea typeface="Calibri" panose="020F0502020204030204" pitchFamily="34" charset="0"/>
                <a:cs typeface="Calibri" panose="020F0502020204030204" pitchFamily="34" charset="0"/>
              </a:rPr>
            </a:br>
            <a:r>
              <a:rPr lang="en-US" sz="1400" dirty="0">
                <a:latin typeface="Calibri" panose="020F0502020204030204" pitchFamily="34" charset="0"/>
                <a:ea typeface="Calibri" panose="020F0502020204030204" pitchFamily="34" charset="0"/>
                <a:cs typeface="Calibri" panose="020F0502020204030204" pitchFamily="34" charset="0"/>
              </a:rPr>
              <a:t>For all three categories, female customers aged between 31 and 50 represent the highest count, with Clothing being the most preferred category within this group.</a:t>
            </a:r>
          </a:p>
          <a:p>
            <a:pPr marL="285750" indent="-285750">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Seasonal Sales Trends</a:t>
            </a:r>
            <a:br>
              <a:rPr lang="en-US" sz="1400" dirty="0">
                <a:latin typeface="Calibri" panose="020F0502020204030204" pitchFamily="34" charset="0"/>
                <a:ea typeface="Calibri" panose="020F0502020204030204" pitchFamily="34" charset="0"/>
                <a:cs typeface="Calibri" panose="020F0502020204030204" pitchFamily="34" charset="0"/>
              </a:rPr>
            </a:br>
            <a:r>
              <a:rPr lang="en-US" sz="1400" dirty="0">
                <a:latin typeface="Calibri" panose="020F0502020204030204" pitchFamily="34" charset="0"/>
                <a:ea typeface="Calibri" panose="020F0502020204030204" pitchFamily="34" charset="0"/>
                <a:cs typeface="Calibri" panose="020F0502020204030204" pitchFamily="34" charset="0"/>
              </a:rPr>
              <a:t>The highest average total sales were observed in July (2022) and February (2023), indicating peak sales periods.</a:t>
            </a:r>
          </a:p>
          <a:p>
            <a:pPr marL="285750" indent="-285750">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Shift-wise Order Distribution</a:t>
            </a:r>
            <a:br>
              <a:rPr lang="en-US" sz="1400" dirty="0">
                <a:latin typeface="Calibri" panose="020F0502020204030204" pitchFamily="34" charset="0"/>
                <a:ea typeface="Calibri" panose="020F0502020204030204" pitchFamily="34" charset="0"/>
                <a:cs typeface="Calibri" panose="020F0502020204030204" pitchFamily="34" charset="0"/>
              </a:rPr>
            </a:br>
            <a:r>
              <a:rPr lang="en-US" sz="1400" dirty="0">
                <a:latin typeface="Calibri" panose="020F0502020204030204" pitchFamily="34" charset="0"/>
                <a:ea typeface="Calibri" panose="020F0502020204030204" pitchFamily="34" charset="0"/>
                <a:cs typeface="Calibri" panose="020F0502020204030204" pitchFamily="34" charset="0"/>
              </a:rPr>
              <a:t>Across all categories, the morning shift sees the highest number of orders, followed by the evening, with the afternoon shift having the least.</a:t>
            </a:r>
          </a:p>
          <a:p>
            <a:pPr marL="285750" indent="-285750">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Profitability by Category</a:t>
            </a:r>
            <a:br>
              <a:rPr lang="en-US" sz="1400" dirty="0">
                <a:latin typeface="Calibri" panose="020F0502020204030204" pitchFamily="34" charset="0"/>
                <a:ea typeface="Calibri" panose="020F0502020204030204" pitchFamily="34" charset="0"/>
                <a:cs typeface="Calibri" panose="020F0502020204030204" pitchFamily="34" charset="0"/>
              </a:rPr>
            </a:br>
            <a:r>
              <a:rPr lang="en-US" sz="1400" dirty="0">
                <a:latin typeface="Calibri" panose="020F0502020204030204" pitchFamily="34" charset="0"/>
                <a:ea typeface="Calibri" panose="020F0502020204030204" pitchFamily="34" charset="0"/>
                <a:cs typeface="Calibri" panose="020F0502020204030204" pitchFamily="34" charset="0"/>
              </a:rPr>
              <a:t>The Clothing category generated the highest profit.</a:t>
            </a:r>
          </a:p>
          <a:p>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26059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4068E-8690-EA68-BF88-594DE7A895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8F8757-24B4-255A-FE78-B4C7A6B9B9D8}"/>
              </a:ext>
            </a:extLst>
          </p:cNvPr>
          <p:cNvSpPr>
            <a:spLocks noGrp="1"/>
          </p:cNvSpPr>
          <p:nvPr>
            <p:ph type="title"/>
          </p:nvPr>
        </p:nvSpPr>
        <p:spPr>
          <a:xfrm>
            <a:off x="560439" y="473314"/>
            <a:ext cx="10515600" cy="461615"/>
          </a:xfrm>
        </p:spPr>
        <p:txBody>
          <a:bodyPr>
            <a:noAutofit/>
          </a:bodyPr>
          <a:lstStyle/>
          <a:p>
            <a:pPr algn="ctr"/>
            <a:r>
              <a:rPr lang="en-IN" sz="4000" b="1" dirty="0">
                <a:latin typeface="Arial Black" panose="020B0A04020102020204" pitchFamily="34" charset="0"/>
                <a:ea typeface="Calibri" panose="020F0502020204030204" pitchFamily="34" charset="0"/>
                <a:cs typeface="Arial" panose="020B0604020202020204" pitchFamily="34" charset="0"/>
              </a:rPr>
              <a:t>Recommendations</a:t>
            </a:r>
          </a:p>
        </p:txBody>
      </p:sp>
      <p:sp>
        <p:nvSpPr>
          <p:cNvPr id="5" name="TextBox 4">
            <a:extLst>
              <a:ext uri="{FF2B5EF4-FFF2-40B4-BE49-F238E27FC236}">
                <a16:creationId xmlns:a16="http://schemas.microsoft.com/office/drawing/2014/main" id="{D14CF8F2-C3F6-ED23-2C69-28AF090F655B}"/>
              </a:ext>
            </a:extLst>
          </p:cNvPr>
          <p:cNvSpPr txBox="1"/>
          <p:nvPr/>
        </p:nvSpPr>
        <p:spPr>
          <a:xfrm>
            <a:off x="560439" y="1152484"/>
            <a:ext cx="10972799" cy="5232202"/>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Electronics has the highest total sales, consider allocating more marketing budget to this category. Highlight popular products and offer targeted promotions to further boost sales.</a:t>
            </a:r>
          </a:p>
          <a:p>
            <a:pPr marL="285750" indent="-285750">
              <a:buFont typeface="Arial" panose="020B0604020202020204" pitchFamily="34" charset="0"/>
              <a:buChar char="•"/>
            </a:pPr>
            <a:endParaRPr lang="en-US"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With the average age of electronics customers being around 41.60 years, tailor campaigns and product messaging to appeal to middle-aged consumers, especially those in the 31–50 age range.</a:t>
            </a:r>
          </a:p>
          <a:p>
            <a:pPr marL="285750" indent="-285750">
              <a:buFont typeface="Arial" panose="020B0604020202020204" pitchFamily="34" charset="0"/>
              <a:buChar char="•"/>
            </a:pPr>
            <a:endParaRPr lang="en-US"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As male customers contribute more to electronics sales, develop male-oriented product bundles or loyalty programs. For categories where females dominate (like Clothing), create campaigns that resonate with their preferences.</a:t>
            </a:r>
          </a:p>
          <a:p>
            <a:pPr marL="285750" indent="-285750">
              <a:buFont typeface="Arial" panose="020B0604020202020204" pitchFamily="34" charset="0"/>
              <a:buChar char="•"/>
            </a:pPr>
            <a:endParaRPr lang="en-US"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Engage the top 5 customers with exclusive offers, early access to new products, or personalized communication to retain and grow their loyalty.</a:t>
            </a:r>
          </a:p>
          <a:p>
            <a:pPr marL="285750" indent="-285750">
              <a:buFont typeface="Arial" panose="020B0604020202020204" pitchFamily="34" charset="0"/>
              <a:buChar char="•"/>
            </a:pPr>
            <a:endParaRPr lang="en-US"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Since Clothing generates the highest profit, explore expanding product lines, improving inventory management, and enhancing customer experience in this category.</a:t>
            </a:r>
          </a:p>
          <a:p>
            <a:pPr marL="285750" indent="-285750">
              <a:buFont typeface="Arial" panose="020B0604020202020204" pitchFamily="34" charset="0"/>
              <a:buChar char="•"/>
            </a:pPr>
            <a:endParaRPr lang="en-US"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Capitalize on peak months like July (2022) and February (2023) by planning seasonal promotions, and product launches during these periods.</a:t>
            </a:r>
          </a:p>
          <a:p>
            <a:pPr marL="285750" indent="-285750">
              <a:buFont typeface="Arial" panose="020B0604020202020204" pitchFamily="34" charset="0"/>
              <a:buChar char="•"/>
            </a:pPr>
            <a:endParaRPr lang="en-US"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With morning shifts showing the highest order volume, ensure adequate staffing, inventory availability, and system readiness during these hours to maximize efficiency and customer satisfaction.</a:t>
            </a:r>
          </a:p>
          <a:p>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6765999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TM03457510[[fn=Savon]]</Template>
  <TotalTime>280</TotalTime>
  <Words>558</Words>
  <Application>Microsoft Office PowerPoint</Application>
  <PresentationFormat>Widescreen</PresentationFormat>
  <Paragraphs>42</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Arial Black</vt:lpstr>
      <vt:lpstr>Calibri</vt:lpstr>
      <vt:lpstr>Century Gothic</vt:lpstr>
      <vt:lpstr>Garamond</vt:lpstr>
      <vt:lpstr>Savon</vt:lpstr>
      <vt:lpstr>Retail Sales Analysis</vt:lpstr>
      <vt:lpstr>PowerPoint Presentation</vt:lpstr>
      <vt:lpstr>PowerPoint Presentation</vt:lpstr>
      <vt:lpstr>PowerPoint Presentation</vt:lpstr>
      <vt:lpstr>Analysis and Insights</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Shubhashis Pal</dc:creator>
  <cp:lastModifiedBy>Shubhashis Pal</cp:lastModifiedBy>
  <cp:revision>1</cp:revision>
  <dcterms:created xsi:type="dcterms:W3CDTF">2025-07-18T16:18:28Z</dcterms:created>
  <dcterms:modified xsi:type="dcterms:W3CDTF">2026-03-01T15:01:51Z</dcterms:modified>
</cp:coreProperties>
</file>